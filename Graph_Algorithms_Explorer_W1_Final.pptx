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96012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9 · DESIGN PHASE REVIEW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32588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Algorithms Explorer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1284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Worklet 1 · Graph Model, Traversal &amp; Connectivity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7004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No external graph libraries · Built from first principles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3429000"/>
            <a:ext cx="338328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31750">
            <a:solidFill>
              <a:srgbClr val="E8A02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87552" y="3611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E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WORKLET 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87552" y="391363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Model &amp; Traversal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449884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· DFS · SCC · Cycle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TopoSort · Bipartite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3429000"/>
            <a:ext cx="3383280" cy="1874520"/>
          </a:xfrm>
          <a:prstGeom prst="roundRect">
            <a:avLst>
              <a:gd name="adj" fmla="val 2927"/>
            </a:avLst>
          </a:prstGeom>
          <a:solidFill>
            <a:srgbClr val="2C3A72"/>
          </a:solidFill>
          <a:ln w="12700">
            <a:solidFill>
              <a:srgbClr val="46548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45152" y="3611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WORKLET 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45152" y="391363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Weighted Algorithms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645152" y="449884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A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· Bellman–Ford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A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 MST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46720" y="3429000"/>
            <a:ext cx="3383280" cy="1874520"/>
          </a:xfrm>
          <a:prstGeom prst="roundRect">
            <a:avLst>
              <a:gd name="adj" fmla="val 2927"/>
            </a:avLst>
          </a:prstGeom>
          <a:solidFill>
            <a:srgbClr val="2C3A72"/>
          </a:solidFill>
          <a:ln w="12700">
            <a:solidFill>
              <a:srgbClr val="46548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02752" y="3611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WORKLET 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302752" y="391363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&amp; Visuals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302752" y="449884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A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Centrality · Colouring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A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· Benchmarking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532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40" kern="0" dirty="0">
                <a:solidFill>
                  <a:srgbClr val="E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FOCUS  ▸  WORKLET 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60" kern="0" dirty="0">
                <a:solidFill>
                  <a:srgbClr val="E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7665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Team &amp; Mentors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EEF2FB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19072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GUIDES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03120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1792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Soma Ghosh (SGN)</a:t>
            </a:r>
            <a:endParaRPr lang="en-US" sz="1400" dirty="0"/>
          </a:p>
          <a:p>
            <a:pPr marL="203200" indent="-203200">
              <a:lnSpc>
                <a:spcPts val="1792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Aparna Santra Biswas (ASB)</a:t>
            </a:r>
            <a:endParaRPr lang="en-US" sz="1400" dirty="0"/>
          </a:p>
          <a:p>
            <a:pPr marL="203200" indent="-203200">
              <a:lnSpc>
                <a:spcPts val="1792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Santosh N. Ghotkar (SNG)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99632" y="155448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EEF2FB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28232" y="1719072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CO-GUIDES &amp; POP GUIDE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28232" y="2103120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1792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Akanksha Akulwar · Anuja Patil · Abha Waikar</a:t>
            </a:r>
            <a:endParaRPr lang="en-US" sz="1400" dirty="0"/>
          </a:p>
          <a:p>
            <a:pPr marL="203200" indent="-203200">
              <a:lnSpc>
                <a:spcPts val="1792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Guide: Anand Kankariya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1546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WORKLET 1 · GRAPH MODEL &amp; TRAVERSAL · TEAM MEMBERS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2606040" cy="2148840"/>
          </a:xfrm>
          <a:prstGeom prst="roundRect">
            <a:avLst>
              <a:gd name="adj" fmla="val 2553"/>
            </a:avLst>
          </a:prstGeom>
          <a:solidFill>
            <a:srgbClr val="EEF2FB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08760" y="37033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508760" y="3703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44805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Yash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480060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MIS: 612415022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508406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ABC · AdjList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64992" y="3520440"/>
            <a:ext cx="2606040" cy="2148840"/>
          </a:xfrm>
          <a:prstGeom prst="roundRect">
            <a:avLst>
              <a:gd name="adj" fmla="val 2553"/>
            </a:avLst>
          </a:prstGeom>
          <a:solidFill>
            <a:srgbClr val="EEF2FB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25112" y="37033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325112" y="3703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3502152" y="44805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Pranav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3502152" y="480060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MIS: 612415026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502152" y="508406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AdjMatrix · EdgeLoader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81344" y="3520440"/>
            <a:ext cx="2606040" cy="2148840"/>
          </a:xfrm>
          <a:prstGeom prst="roundRect">
            <a:avLst>
              <a:gd name="adj" fmla="val 2553"/>
            </a:avLst>
          </a:prstGeom>
          <a:solidFill>
            <a:srgbClr val="EEF2FB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41464" y="37033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41464" y="3703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6318504" y="44805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Kunal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6318504" y="480060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MIS: 612415025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318504" y="508406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· DFS · Components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997696" y="3520440"/>
            <a:ext cx="2606040" cy="2148840"/>
          </a:xfrm>
          <a:prstGeom prst="roundRect">
            <a:avLst>
              <a:gd name="adj" fmla="val 2553"/>
            </a:avLst>
          </a:prstGeom>
          <a:solidFill>
            <a:srgbClr val="EEF2FB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57816" y="37033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957816" y="3703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2400" dirty="0"/>
          </a:p>
        </p:txBody>
      </p:sp>
      <p:sp>
        <p:nvSpPr>
          <p:cNvPr id="33" name="Text 31"/>
          <p:cNvSpPr txBox="1"/>
          <p:nvPr/>
        </p:nvSpPr>
        <p:spPr>
          <a:xfrm>
            <a:off x="9134856" y="44805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Vedant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9134856" y="480060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MIS: 612415060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134856" y="508406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SCC · Cycle · Topo · Bipartite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60" kern="0" dirty="0">
                <a:solidFill>
                  <a:srgbClr val="E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OVERALL FUNCTIONALITY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7665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Functionality &amp; Scope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layer for the project: representations, traversal, connectivity and stable contracts for downstream worklets.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623560" cy="3383280"/>
          </a:xfrm>
          <a:prstGeom prst="roundRect">
            <a:avLst>
              <a:gd name="adj" fmla="val 1622"/>
            </a:avLst>
          </a:prstGeom>
          <a:solidFill>
            <a:srgbClr val="EEF2FB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039112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1F6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IN-SCOPE · WORKLET 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423160"/>
            <a:ext cx="5166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192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model: Graph ABC + adjacency list + adjacency matrix</a:t>
            </a:r>
            <a:endParaRPr lang="en-US" sz="1500" dirty="0"/>
          </a:p>
          <a:p>
            <a:pPr marL="203200" indent="-203200">
              <a:lnSpc>
                <a:spcPts val="192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editing: add / remove vertex &amp; edge</a:t>
            </a:r>
            <a:endParaRPr lang="en-US" sz="1500" dirty="0"/>
          </a:p>
          <a:p>
            <a:pPr marL="203200" indent="-203200">
              <a:lnSpc>
                <a:spcPts val="192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Edge-list file loader</a:t>
            </a:r>
            <a:endParaRPr lang="en-US" sz="1500" dirty="0"/>
          </a:p>
          <a:p>
            <a:pPr marL="203200" indent="-203200">
              <a:lnSpc>
                <a:spcPts val="192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Traversal: BFS, DFS, BFS_ALL, DFS_ALL</a:t>
            </a:r>
            <a:endParaRPr lang="en-US" sz="1500" dirty="0"/>
          </a:p>
          <a:p>
            <a:pPr marL="203200" indent="-203200">
              <a:lnSpc>
                <a:spcPts val="192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Connectivity: components, SCC, cycle detection</a:t>
            </a:r>
            <a:endParaRPr lang="en-US" sz="1500" dirty="0"/>
          </a:p>
          <a:p>
            <a:pPr marL="203200" indent="-203200">
              <a:lnSpc>
                <a:spcPts val="192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 topological sort, bipartite test</a:t>
            </a:r>
            <a:endParaRPr lang="en-US" sz="1500" dirty="0"/>
          </a:p>
          <a:p>
            <a:pPr marL="203200" indent="-203200">
              <a:lnSpc>
                <a:spcPts val="192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contracts: Algorithm + AlgorithmResult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28232" y="1874520"/>
            <a:ext cx="5212080" cy="3383280"/>
          </a:xfrm>
          <a:prstGeom prst="roundRect">
            <a:avLst>
              <a:gd name="adj" fmla="val 1622"/>
            </a:avLst>
          </a:prstGeom>
          <a:solidFill>
            <a:srgbClr val="EEF2FB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56832" y="203911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9B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656832" y="242316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192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algorithms → Worklet 2</a:t>
            </a:r>
            <a:endParaRPr lang="en-US" sz="1500" dirty="0"/>
          </a:p>
          <a:p>
            <a:pPr marL="203200" indent="-203200">
              <a:lnSpc>
                <a:spcPts val="192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 / igraph / scipy → not allowed</a:t>
            </a:r>
            <a:endParaRPr lang="en-US" sz="1500" dirty="0"/>
          </a:p>
          <a:p>
            <a:pPr marL="203200" indent="-203200">
              <a:lnSpc>
                <a:spcPts val="192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+ traversal animation → Worklet 3</a:t>
            </a:r>
            <a:endParaRPr lang="en-US" sz="1500" dirty="0"/>
          </a:p>
          <a:p>
            <a:pPr marL="203200" indent="-203200">
              <a:lnSpc>
                <a:spcPts val="192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profiling / benchmarking → Worklet 3</a:t>
            </a:r>
            <a:endParaRPr lang="en-US" sz="1500" dirty="0"/>
          </a:p>
          <a:p>
            <a:pPr marL="203200" indent="-203200">
              <a:lnSpc>
                <a:spcPts val="192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deliberately stays focused on a reusable foundation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60" kern="0" dirty="0">
                <a:solidFill>
                  <a:srgbClr val="E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QUALITY ATTRIBUTES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7665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1672" cy="566928"/>
          </a:xfrm>
          <a:prstGeom prst="roundRect">
            <a:avLst>
              <a:gd name="adj" fmla="val 8065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55448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ENGINEERING GOAL   ·   Representation independence — algorithms remain unchanged across list and matrix.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9167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2834640"/>
                <a:gridCol w="683971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spc="8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spc="8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spc="8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/ VERIFICATION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NFR-12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Correctness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output on list &amp; matrix for identical cases.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NFR-02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traversal O(V+E); matrix traversal O(V²).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NFR-03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concrete-class casts or private-field access.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NFR-05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Modularity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algorithm is a self-contained strategy module.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NFR-06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Maintainability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API documented and unit-tested.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NFR-01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Portability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3.10+ · standard library only.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Handling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 operations raise clear typed exceptions.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60" kern="0" dirty="0">
                <a:solidFill>
                  <a:srgbClr val="E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SYSTEM ARCHITECTURE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7665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Layered Architecture &amp; Workflow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LAYERS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349240" cy="804672"/>
          </a:xfrm>
          <a:prstGeom prst="roundRect">
            <a:avLst>
              <a:gd name="adj" fmla="val 6818"/>
            </a:avLst>
          </a:prstGeom>
          <a:solidFill>
            <a:srgbClr val="EEF2FB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920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LAYER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21284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EdgeListLoader · test runner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5349240" cy="804672"/>
          </a:xfrm>
          <a:prstGeom prst="roundRect">
            <a:avLst>
              <a:gd name="adj" fmla="val 6818"/>
            </a:avLst>
          </a:prstGeom>
          <a:solidFill>
            <a:srgbClr val="EEF2FB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880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17296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AdjacencyListGraph · AdjacencyMatrixGraph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5349240" cy="804672"/>
          </a:xfrm>
          <a:prstGeom prst="roundRect">
            <a:avLst>
              <a:gd name="adj" fmla="val 6818"/>
            </a:avLst>
          </a:prstGeom>
          <a:solidFill>
            <a:srgbClr val="EEF2FB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8404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LAYER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13308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· DFS · Components · SCC · Cycle · TopoSort · Bipartite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709160"/>
            <a:ext cx="5349240" cy="804672"/>
          </a:xfrm>
          <a:prstGeom prst="roundRect">
            <a:avLst>
              <a:gd name="adj" fmla="val 6818"/>
            </a:avLst>
          </a:prstGeom>
          <a:solidFill>
            <a:srgbClr val="EEF2FB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8006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MODEL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509320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· Edge · Graph ABC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148132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18288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0936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18470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EdgeListLoader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21214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→ graph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09360" y="2596896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309360" y="2596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040880" y="261518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object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040880" y="28895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or matrix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309360" y="336499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309360" y="33649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7040880" y="33832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Algorithm.execute()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7040880" y="3657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neighbours() only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309360" y="413308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309360" y="41330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040880" y="415137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AlgorithmResult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7040880" y="44256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DTO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309360" y="4901184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309360" y="49011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7040880" y="49194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Worklet 3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7040880" y="51937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 + benchmarking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48640" y="5779008"/>
            <a:ext cx="11091672" cy="566928"/>
          </a:xfrm>
          <a:prstGeom prst="roundRect">
            <a:avLst>
              <a:gd name="adj" fmla="val 8065"/>
            </a:avLst>
          </a:prstGeom>
          <a:solidFill>
            <a:srgbClr val="1E2761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77240" y="577900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PRINCIPLE   ·   Algorithms depend on the Graph interface — never on representation internals.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60" kern="0" dirty="0">
                <a:solidFill>
                  <a:srgbClr val="E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INTERFACE CONTRACTS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7665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Cross-Worklet Interface Contracts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input contract + one result contract keep every downstream worklet independent of implementation details.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834640"/>
                <a:gridCol w="2834640"/>
                <a:gridCol w="25877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spc="8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spc="8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spc="8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OUTPUT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spc="8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Graph, start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 order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start, parent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Graph, start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 order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Undirected graph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 lists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Directed graph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SCC lists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 Detection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/ False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TopoSort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Directed graph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/ None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has_cycle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Bipartite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Undirected graph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/ False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colouring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074920"/>
            <a:ext cx="5440680" cy="1051560"/>
          </a:xfrm>
          <a:prstGeom prst="roundRect">
            <a:avLst>
              <a:gd name="adj" fmla="val 5217"/>
            </a:avLst>
          </a:prstGeom>
          <a:solidFill>
            <a:srgbClr val="EEF2FB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5239512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ASSUMPTIONS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562356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1664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IDs are integer / string · unique</a:t>
            </a:r>
            <a:endParaRPr lang="en-US" sz="1300" dirty="0"/>
          </a:p>
          <a:p>
            <a:pPr marL="203200" indent="-203200">
              <a:lnSpc>
                <a:spcPts val="1664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Self-loops allowed · parallel edges rejected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99632" y="5074920"/>
            <a:ext cx="5440680" cy="1051560"/>
          </a:xfrm>
          <a:prstGeom prst="roundRect">
            <a:avLst>
              <a:gd name="adj" fmla="val 5217"/>
            </a:avLst>
          </a:prstGeom>
          <a:solidFill>
            <a:srgbClr val="EEF2FB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28232" y="5239512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E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· CROSS-WORKLET SIGN-OFF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428232" y="562356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1664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edge_weight(u,v) → W2</a:t>
            </a:r>
            <a:endParaRPr lang="en-US" sz="1300" dirty="0"/>
          </a:p>
          <a:p>
            <a:pPr marL="203200" indent="-203200">
              <a:lnSpc>
                <a:spcPts val="1664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component_map + animation metadata → W3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60" kern="0" dirty="0">
                <a:solidFill>
                  <a:srgbClr val="E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GRAPH REPRESENTATION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7665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Representation Design &amp; Trade-offs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611880" cy="1783080"/>
          </a:xfrm>
          <a:prstGeom prst="roundRect">
            <a:avLst>
              <a:gd name="adj" fmla="val 3077"/>
            </a:avLst>
          </a:prstGeom>
          <a:solidFill>
            <a:srgbClr val="EEF2FB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1907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ADJACENCY LIST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0312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1664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dict[vertex → list[Edge]]</a:t>
            </a:r>
            <a:endParaRPr lang="en-US" sz="1300" dirty="0"/>
          </a:p>
          <a:p>
            <a:pPr marL="203200" indent="-203200">
              <a:lnSpc>
                <a:spcPts val="1664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O(V+E)</a:t>
            </a:r>
            <a:endParaRPr lang="en-US" sz="1300" dirty="0"/>
          </a:p>
          <a:p>
            <a:pPr marL="203200" indent="-203200">
              <a:lnSpc>
                <a:spcPts val="1664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neighbours O(degree)</a:t>
            </a:r>
            <a:endParaRPr lang="en-US" sz="1300" dirty="0"/>
          </a:p>
          <a:p>
            <a:pPr marL="203200" indent="-203200">
              <a:lnSpc>
                <a:spcPts val="1664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sparse graphs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88536" y="1554480"/>
            <a:ext cx="3611880" cy="1783080"/>
          </a:xfrm>
          <a:prstGeom prst="roundRect">
            <a:avLst>
              <a:gd name="adj" fmla="val 3077"/>
            </a:avLst>
          </a:prstGeom>
          <a:solidFill>
            <a:srgbClr val="EEF2FB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17136" y="171907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ADJACENCY MATRIX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17136" y="210312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1664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2-D indexed structure</a:t>
            </a:r>
            <a:endParaRPr lang="en-US" sz="1300" dirty="0"/>
          </a:p>
          <a:p>
            <a:pPr marL="203200" indent="-203200">
              <a:lnSpc>
                <a:spcPts val="1664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O(V²)</a:t>
            </a:r>
            <a:endParaRPr lang="en-US" sz="1300" dirty="0"/>
          </a:p>
          <a:p>
            <a:pPr marL="203200" indent="-203200">
              <a:lnSpc>
                <a:spcPts val="1664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has_edge O(1)</a:t>
            </a:r>
            <a:endParaRPr lang="en-US" sz="1300" dirty="0"/>
          </a:p>
          <a:p>
            <a:pPr marL="203200" indent="-203200">
              <a:lnSpc>
                <a:spcPts val="1664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dense graphs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28432" y="1554480"/>
            <a:ext cx="3611880" cy="1783080"/>
          </a:xfrm>
          <a:prstGeom prst="roundRect">
            <a:avLst>
              <a:gd name="adj" fmla="val 3077"/>
            </a:avLst>
          </a:prstGeom>
          <a:solidFill>
            <a:srgbClr val="EEF2FB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57032" y="171907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CONTRACT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257032" y="210312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1664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implement Graph ABC</a:t>
            </a:r>
            <a:endParaRPr lang="en-US" sz="1300" dirty="0"/>
          </a:p>
          <a:p>
            <a:pPr marL="203200" indent="-203200">
              <a:lnSpc>
                <a:spcPts val="1664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call neighbours(v)</a:t>
            </a:r>
            <a:endParaRPr lang="en-US" sz="1300" dirty="0"/>
          </a:p>
          <a:p>
            <a:pPr marL="203200" indent="-203200">
              <a:lnSpc>
                <a:spcPts val="1664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edges rejected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66160"/>
          <a:ext cx="11091672" cy="914400"/>
        </p:xfrm>
        <a:graphic>
          <a:graphicData uri="http://schemas.openxmlformats.org/drawingml/2006/table">
            <a:tbl>
              <a:tblPr/>
              <a:tblGrid>
                <a:gridCol w="2862072"/>
                <a:gridCol w="4114800"/>
                <a:gridCol w="41148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spc="8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spc="8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ADJACENCY LIST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spc="8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ADJACENCY MATRIX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O(V+E) — sparse-friendly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O(V²) — always full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add_vertex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add_edge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O(degree)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neighbours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O(degree)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has_edge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O(degree)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548640" y="5779008"/>
            <a:ext cx="11091672" cy="566928"/>
          </a:xfrm>
          <a:prstGeom prst="roundRect">
            <a:avLst>
              <a:gd name="adj" fmla="val 8065"/>
            </a:avLst>
          </a:prstGeom>
          <a:solidFill>
            <a:srgbClr val="1E276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77240" y="577900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DD-02 · DEFAULT   ·   AdjacencyListGraph — chosen because most project graphs are sparse and traversal-heavy.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60" kern="0" dirty="0">
                <a:solidFill>
                  <a:srgbClr val="E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ALGORITHM DEEP DIVE · 1 &amp; 2 OF 7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7665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BFS &amp; DFS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core traversals; same Graph contract, different exploration order.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012680" y="658368"/>
            <a:ext cx="1627632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12680" y="658368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O(V + E)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5532120" cy="3154680"/>
          </a:xfrm>
          <a:prstGeom prst="roundRect">
            <a:avLst>
              <a:gd name="adj" fmla="val 1739"/>
            </a:avLst>
          </a:prstGeom>
          <a:solidFill>
            <a:srgbClr val="EEF2FB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039112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· BREADTH-FIRST SEARCH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423160"/>
            <a:ext cx="50749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192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Execution: start → FIFO deque → process neighbours → repeat</a:t>
            </a:r>
            <a:endParaRPr lang="en-US" sz="1500" dirty="0"/>
          </a:p>
          <a:p>
            <a:pPr marL="203200" indent="-203200">
              <a:lnSpc>
                <a:spcPts val="192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structure: collections.deque</a:t>
            </a:r>
            <a:endParaRPr lang="en-US" sz="1500" dirty="0"/>
          </a:p>
          <a:p>
            <a:pPr marL="203200" indent="-203200">
              <a:lnSpc>
                <a:spcPts val="192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FIFO gives level-order traversal</a:t>
            </a:r>
            <a:endParaRPr lang="en-US" sz="1500" dirty="0"/>
          </a:p>
          <a:p>
            <a:pPr marL="203200" indent="-203200">
              <a:lnSpc>
                <a:spcPts val="192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Unweighted graphs: first reach = fewest edges</a:t>
            </a:r>
            <a:endParaRPr lang="en-US" sz="1500" dirty="0"/>
          </a:p>
          <a:p>
            <a:pPr marL="203200" indent="-203200">
              <a:lnSpc>
                <a:spcPts val="192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bfs(start): one component</a:t>
            </a:r>
            <a:endParaRPr lang="en-US" sz="1500" dirty="0"/>
          </a:p>
          <a:p>
            <a:pPr marL="203200" indent="-203200">
              <a:lnSpc>
                <a:spcPts val="192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bfs_all(): restart from every unvisited vertex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91072" y="1874520"/>
            <a:ext cx="5349240" cy="3154680"/>
          </a:xfrm>
          <a:prstGeom prst="roundRect">
            <a:avLst>
              <a:gd name="adj" fmla="val 1739"/>
            </a:avLst>
          </a:prstGeom>
          <a:solidFill>
            <a:srgbClr val="EEF2FB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19672" y="2039112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· DEPTH-FIRST SEARCH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2423160"/>
            <a:ext cx="48920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192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Execution: mark → recurse into unseen neighbour → backtrack</a:t>
            </a:r>
            <a:endParaRPr lang="en-US" sz="1500" dirty="0"/>
          </a:p>
          <a:p>
            <a:pPr marL="203200" indent="-203200">
              <a:lnSpc>
                <a:spcPts val="192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structure: call stack / LIFO</a:t>
            </a:r>
            <a:endParaRPr lang="en-US" sz="1500" dirty="0"/>
          </a:p>
          <a:p>
            <a:pPr marL="203200" indent="-203200">
              <a:lnSpc>
                <a:spcPts val="192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natural depth-first exploration</a:t>
            </a:r>
            <a:endParaRPr lang="en-US" sz="1500" dirty="0"/>
          </a:p>
          <a:p>
            <a:pPr marL="203200" indent="-203200">
              <a:lnSpc>
                <a:spcPts val="192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dfs(start): one component</a:t>
            </a:r>
            <a:endParaRPr lang="en-US" sz="1500" dirty="0"/>
          </a:p>
          <a:p>
            <a:pPr marL="203200" indent="-203200">
              <a:lnSpc>
                <a:spcPts val="192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dfs_all(): full-graph coverage</a:t>
            </a:r>
            <a:endParaRPr lang="en-US" sz="1500" dirty="0"/>
          </a:p>
          <a:p>
            <a:pPr marL="203200" indent="-203200">
              <a:lnSpc>
                <a:spcPts val="192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risk: recursion limit on very deep graphs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349240"/>
            <a:ext cx="11091672" cy="566928"/>
          </a:xfrm>
          <a:prstGeom prst="roundRect">
            <a:avLst>
              <a:gd name="adj" fmla="val 8065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53492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= level-by-level · shortest path in unweighted graphs      ·      DFS = deep exploration · backtracking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60" kern="0" dirty="0">
                <a:solidFill>
                  <a:srgbClr val="E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ALGORITHM DEEP DIVE · 3 &amp; 4 OF 7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7665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SCC &amp; Cycle Detection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Kosaraju for SCC; different cycle logic for directed and undirected graphs.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012680" y="658368"/>
            <a:ext cx="1627632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12680" y="658368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O(V + E)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5532120" cy="3154680"/>
          </a:xfrm>
          <a:prstGeom prst="roundRect">
            <a:avLst>
              <a:gd name="adj" fmla="val 1739"/>
            </a:avLst>
          </a:prstGeom>
          <a:solidFill>
            <a:srgbClr val="EEF2FB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039112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SCC · KOSARAJU (DIRECTED)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423160"/>
            <a:ext cx="50749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192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1: DFS on original graph → finish-time stack</a:t>
            </a:r>
            <a:endParaRPr lang="en-US" sz="1500" dirty="0"/>
          </a:p>
          <a:p>
            <a:pPr marL="203200" indent="-203200">
              <a:lnSpc>
                <a:spcPts val="192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Transpose: reverse every edge</a:t>
            </a:r>
            <a:endParaRPr lang="en-US" sz="1500" dirty="0"/>
          </a:p>
          <a:p>
            <a:pPr marL="203200" indent="-203200">
              <a:lnSpc>
                <a:spcPts val="192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2: pop finish stack → DFS on transposed graph</a:t>
            </a:r>
            <a:endParaRPr lang="en-US" sz="1500" dirty="0"/>
          </a:p>
          <a:p>
            <a:pPr marL="203200" indent="-203200">
              <a:lnSpc>
                <a:spcPts val="192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DFS tree in Pass 2 = one SCC</a:t>
            </a:r>
            <a:endParaRPr lang="en-US" sz="1500" dirty="0"/>
          </a:p>
          <a:p>
            <a:pPr marL="203200" indent="-203200">
              <a:lnSpc>
                <a:spcPts val="192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transpose: inter-SCC edges reverse direction</a:t>
            </a:r>
            <a:endParaRPr lang="en-US" sz="1500" dirty="0"/>
          </a:p>
          <a:p>
            <a:pPr marL="203200" indent="-203200">
              <a:lnSpc>
                <a:spcPts val="192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DD-03: chosen over Tarjan for reuse + explainability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91072" y="1874520"/>
            <a:ext cx="5349240" cy="3154680"/>
          </a:xfrm>
          <a:prstGeom prst="roundRect">
            <a:avLst>
              <a:gd name="adj" fmla="val 1739"/>
            </a:avLst>
          </a:prstGeom>
          <a:solidFill>
            <a:srgbClr val="EEF2FB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19672" y="2039112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DETECTION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2423160"/>
            <a:ext cx="48920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192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Undirected: DFS + parent tracking</a:t>
            </a:r>
            <a:endParaRPr lang="en-US" sz="1500" dirty="0"/>
          </a:p>
          <a:p>
            <a:pPr marL="203200" indent="-203200">
              <a:lnSpc>
                <a:spcPts val="192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edge = visited neighbour that is not parent</a:t>
            </a:r>
            <a:endParaRPr lang="en-US" sz="1500" dirty="0"/>
          </a:p>
          <a:p>
            <a:pPr marL="203200" indent="-203200">
              <a:lnSpc>
                <a:spcPts val="192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Directed: visited + rec_stack</a:t>
            </a:r>
            <a:endParaRPr lang="en-US" sz="1500" dirty="0"/>
          </a:p>
          <a:p>
            <a:pPr marL="203200" indent="-203200">
              <a:lnSpc>
                <a:spcPts val="192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edge into rec_stack = cycle</a:t>
            </a:r>
            <a:endParaRPr lang="en-US" sz="1500" dirty="0"/>
          </a:p>
          <a:p>
            <a:pPr marL="203200" indent="-203200">
              <a:lnSpc>
                <a:spcPts val="192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Visited-but-not-rec_stack = finished vertex → cross edge</a:t>
            </a:r>
            <a:endParaRPr lang="en-US" sz="1500" dirty="0"/>
          </a:p>
          <a:p>
            <a:pPr marL="203200" indent="-203200">
              <a:lnSpc>
                <a:spcPts val="192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DD-06: two sets chosen over one visited set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349240"/>
            <a:ext cx="11091672" cy="566928"/>
          </a:xfrm>
          <a:prstGeom prst="roundRect">
            <a:avLst>
              <a:gd name="adj" fmla="val 8065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53492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DD-03 · Kosaraju chosen over Tarjan for reuse of existing DFS and clearer viva explainability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60" kern="0" dirty="0">
                <a:solidFill>
                  <a:srgbClr val="E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ALGORITHM DEEP DIVE · 5, 6 &amp; 7 OF 7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7665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Topological Sort &amp; Bipartite Test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O(V+E) structural algorithms with clear domain restrictions.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012680" y="658368"/>
            <a:ext cx="1627632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12680" y="658368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O(V + E)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5532120" cy="3154680"/>
          </a:xfrm>
          <a:prstGeom prst="roundRect">
            <a:avLst>
              <a:gd name="adj" fmla="val 1739"/>
            </a:avLst>
          </a:prstGeom>
          <a:solidFill>
            <a:srgbClr val="EEF2FB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039112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TOPOLOGICAL SORT · KAHN'S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423160"/>
            <a:ext cx="50749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192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in-degree for every vertex</a:t>
            </a:r>
            <a:endParaRPr lang="en-US" sz="1500" dirty="0"/>
          </a:p>
          <a:p>
            <a:pPr marL="203200" indent="-203200">
              <a:lnSpc>
                <a:spcPts val="192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 all vertices with in-degree 0</a:t>
            </a:r>
            <a:endParaRPr lang="en-US" sz="1500" dirty="0"/>
          </a:p>
          <a:p>
            <a:pPr marL="203200" indent="-203200">
              <a:lnSpc>
                <a:spcPts val="192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→ append to order → decrement neighbours</a:t>
            </a:r>
            <a:endParaRPr lang="en-US" sz="1500" dirty="0"/>
          </a:p>
          <a:p>
            <a:pPr marL="203200" indent="-203200">
              <a:lnSpc>
                <a:spcPts val="192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Newly-zero vertices enter the queue</a:t>
            </a:r>
            <a:endParaRPr lang="en-US" sz="1500" dirty="0"/>
          </a:p>
          <a:p>
            <a:pPr marL="203200" indent="-203200">
              <a:lnSpc>
                <a:spcPts val="192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output length &lt; |V| → a cycle exists</a:t>
            </a:r>
            <a:endParaRPr lang="en-US" sz="1500" dirty="0"/>
          </a:p>
          <a:p>
            <a:pPr marL="203200" indent="-203200">
              <a:lnSpc>
                <a:spcPts val="192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DD-03: chosen over DFS post-order — cycle detection is built in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91072" y="1874520"/>
            <a:ext cx="5349240" cy="3154680"/>
          </a:xfrm>
          <a:prstGeom prst="roundRect">
            <a:avLst>
              <a:gd name="adj" fmla="val 1739"/>
            </a:avLst>
          </a:prstGeom>
          <a:solidFill>
            <a:srgbClr val="EEF2FB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19672" y="2039112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BIPARTITE TEST · BFS 2-COLOURING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2423160"/>
            <a:ext cx="48920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192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each component with colour 0</a:t>
            </a:r>
            <a:endParaRPr lang="en-US" sz="1500" dirty="0"/>
          </a:p>
          <a:p>
            <a:pPr marL="203200" indent="-203200">
              <a:lnSpc>
                <a:spcPts val="192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the opposite colour to unseen neighbours</a:t>
            </a:r>
            <a:endParaRPr lang="en-US" sz="1500" dirty="0"/>
          </a:p>
          <a:p>
            <a:pPr marL="203200" indent="-203200">
              <a:lnSpc>
                <a:spcPts val="192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Same-colour edge → not bipartite</a:t>
            </a:r>
            <a:endParaRPr lang="en-US" sz="1500" dirty="0"/>
          </a:p>
          <a:p>
            <a:pPr marL="203200" indent="-203200">
              <a:lnSpc>
                <a:spcPts val="192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components pass → bipartite</a:t>
            </a:r>
            <a:endParaRPr lang="en-US" sz="1500" dirty="0"/>
          </a:p>
          <a:p>
            <a:pPr marL="203200" indent="-203200">
              <a:lnSpc>
                <a:spcPts val="192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Invariant: bipartite ⇔ no odd-length cycle</a:t>
            </a:r>
            <a:endParaRPr lang="en-US" sz="1500" dirty="0"/>
          </a:p>
          <a:p>
            <a:pPr marL="203200" indent="-203200">
              <a:lnSpc>
                <a:spcPts val="192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graph input → ValueError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349240"/>
            <a:ext cx="11091672" cy="566928"/>
          </a:xfrm>
          <a:prstGeom prst="roundRect">
            <a:avLst>
              <a:gd name="adj" fmla="val 8065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53492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Kahn detects cycles for free      ·      Bipartite holds if and only if the graph has no odd-length cycle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60" kern="0" dirty="0">
                <a:solidFill>
                  <a:srgbClr val="E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ALGORITHM COMPARISON &amp; VALIDATION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7665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Comparison &amp; Edge Cases</a:t>
            </a:r>
            <a:endParaRPr lang="en-US" sz="3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920240"/>
                <a:gridCol w="3227832"/>
                <a:gridCol w="1554480"/>
                <a:gridCol w="20116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spc="8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spc="8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spc="8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DATA STRUCTURE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spc="8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spc="8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deque (FIFO)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O(V+E)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 order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 stack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O(V+E)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 order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Undirected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BFS + visited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O(V+E)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 lists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DFS + transpose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O(V+E)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SCC lists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visited / rec_stack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O(V+E)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/ False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TopoSort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deque + in-degree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O(V+E)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/ None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Bipartite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Undirected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BFS + colour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O(V+E)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 + colouring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535424"/>
            <a:ext cx="5532120" cy="1481328"/>
          </a:xfrm>
          <a:prstGeom prst="roundRect">
            <a:avLst>
              <a:gd name="adj" fmla="val 3704"/>
            </a:avLst>
          </a:prstGeom>
          <a:solidFill>
            <a:srgbClr val="EEF2FB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4700016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9B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REJECTS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5084064"/>
            <a:ext cx="5074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1472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graph type → ValueError</a:t>
            </a:r>
            <a:endParaRPr lang="en-US" sz="1150" dirty="0"/>
          </a:p>
          <a:p>
            <a:pPr marL="203200" indent="-203200">
              <a:lnSpc>
                <a:spcPts val="1472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start → VertexNotFoundError</a:t>
            </a:r>
            <a:endParaRPr lang="en-US" sz="1150" dirty="0"/>
          </a:p>
          <a:p>
            <a:pPr marL="203200" indent="-203200">
              <a:lnSpc>
                <a:spcPts val="1472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edge → EdgeAlreadyExistsError</a:t>
            </a:r>
            <a:endParaRPr lang="en-US" sz="1150" dirty="0"/>
          </a:p>
          <a:p>
            <a:pPr marL="203200" indent="-203200">
              <a:lnSpc>
                <a:spcPts val="1472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file → FileNotFoundError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91072" y="4535424"/>
            <a:ext cx="5349240" cy="1481328"/>
          </a:xfrm>
          <a:prstGeom prst="roundRect">
            <a:avLst>
              <a:gd name="adj" fmla="val 3704"/>
            </a:avLst>
          </a:prstGeom>
          <a:solidFill>
            <a:srgbClr val="EEF2FB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19672" y="4700016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1F6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EDGE CASES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519672" y="5084064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1472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graph → empty result · Self-loop → cycle</a:t>
            </a:r>
            <a:endParaRPr lang="en-US" sz="1150" dirty="0"/>
          </a:p>
          <a:p>
            <a:pPr marL="203200" indent="-203200">
              <a:lnSpc>
                <a:spcPts val="1472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vertices → singleton components</a:t>
            </a:r>
            <a:endParaRPr lang="en-US" sz="1150" dirty="0"/>
          </a:p>
          <a:p>
            <a:pPr marL="203200" indent="-203200">
              <a:lnSpc>
                <a:spcPts val="1472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graph → full-graph mode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089904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Worklet 1 algorithms target O(V+E) on adjacency-list traversal; higher-level algorithms reuse BFS/DFS plus O(V) bookkeeping.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60" kern="0" dirty="0">
                <a:solidFill>
                  <a:srgbClr val="E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PACKAGE LAYOUT &amp; TESTING STRATEGY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7665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 Layout, Class Signatures &amp; Testing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3794760" cy="3246120"/>
          </a:xfrm>
          <a:prstGeom prst="roundRect">
            <a:avLst>
              <a:gd name="adj" fmla="val 169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6276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E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LAYOUT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956816"/>
            <a:ext cx="3429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worklet1/</a:t>
            </a:r>
            <a:endParaRPr lang="en-US" sz="11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graph/</a:t>
            </a:r>
            <a:endParaRPr lang="en-US" sz="11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base.py</a:t>
            </a:r>
            <a:endParaRPr lang="en-US" sz="11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adj_list.py</a:t>
            </a:r>
            <a:endParaRPr lang="en-US" sz="11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adj_matrix.py</a:t>
            </a:r>
            <a:endParaRPr lang="en-US" sz="11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algorithms/</a:t>
            </a:r>
            <a:endParaRPr lang="en-US" sz="11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bfs.py · dfs.py</a:t>
            </a:r>
            <a:endParaRPr lang="en-US" sz="11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connected_components.py</a:t>
            </a:r>
            <a:endParaRPr lang="en-US" sz="11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scc.py</a:t>
            </a:r>
            <a:endParaRPr lang="en-US" sz="11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cycle_detection.py</a:t>
            </a:r>
            <a:endParaRPr lang="en-US" sz="11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topological_sort.py</a:t>
            </a:r>
            <a:endParaRPr lang="en-US" sz="11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bipartite.py</a:t>
            </a:r>
            <a:endParaRPr lang="en-US" sz="11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io/</a:t>
            </a:r>
            <a:endParaRPr lang="en-US" sz="11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edge_list_loader.py</a:t>
            </a:r>
            <a:endParaRPr lang="en-US" sz="11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tests/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53712" y="1481328"/>
          <a:ext cx="7086600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1920240"/>
                <a:gridCol w="1005840"/>
                <a:gridCol w="1920240"/>
              </a:tblGrid>
              <a:tr h="4617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spc="8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spc="8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spc="8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spc="8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 (ABC)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neighbours(v)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AdjacencyListGraph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add_edge(u,v,w)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O(deg)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sparse default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AdjacencyMatrixGraph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has_edge(u,v)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 lookup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 (ABC)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execute(...)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pluggable strategy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dataclass fields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cross-worklet DTO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EdgeListLoader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load(filepath)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O(V+E)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→ graph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548640" y="4864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3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STRATEGY · 4 LEVELS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5193792"/>
            <a:ext cx="2606040" cy="960120"/>
          </a:xfrm>
          <a:prstGeom prst="roundRect">
            <a:avLst>
              <a:gd name="adj" fmla="val 5714"/>
            </a:avLst>
          </a:prstGeom>
          <a:solidFill>
            <a:srgbClr val="EEF2FB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13232" y="52852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 ·  Representation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13232" y="555955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+ Matrix on identical cases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364992" y="5193792"/>
            <a:ext cx="2606040" cy="960120"/>
          </a:xfrm>
          <a:prstGeom prst="roundRect">
            <a:avLst>
              <a:gd name="adj" fmla="val 5714"/>
            </a:avLst>
          </a:prstGeom>
          <a:solidFill>
            <a:srgbClr val="EEF2FB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529584" y="52852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 ·  Algorithm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529584" y="555955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over both representations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181344" y="5193792"/>
            <a:ext cx="2606040" cy="960120"/>
          </a:xfrm>
          <a:prstGeom prst="roundRect">
            <a:avLst>
              <a:gd name="adj" fmla="val 5714"/>
            </a:avLst>
          </a:prstGeom>
          <a:solidFill>
            <a:srgbClr val="EEF2FB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45936" y="52852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 ·  I/O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345936" y="555955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+ malformed + missing files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997696" y="5193792"/>
            <a:ext cx="2606040" cy="960120"/>
          </a:xfrm>
          <a:prstGeom prst="roundRect">
            <a:avLst>
              <a:gd name="adj" fmla="val 5714"/>
            </a:avLst>
          </a:prstGeom>
          <a:solidFill>
            <a:srgbClr val="EEF2FB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162288" y="52852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 ·  Integration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9162288" y="555955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→ run → inspect result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60" kern="0" dirty="0">
                <a:solidFill>
                  <a:srgbClr val="E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REVIEW SUMMARY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7665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Review Verification Checklist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40680" cy="731520"/>
          </a:xfrm>
          <a:prstGeom prst="roundRect">
            <a:avLst>
              <a:gd name="adj" fmla="val 7500"/>
            </a:avLst>
          </a:prstGeom>
          <a:solidFill>
            <a:srgbClr val="EEF2FB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773936"/>
            <a:ext cx="384048" cy="384048"/>
          </a:xfrm>
          <a:prstGeom prst="ellipse">
            <a:avLst/>
          </a:prstGeom>
          <a:solidFill>
            <a:srgbClr val="1F6F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6002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FR-01 to FR-20 + NFR-01 to NFR-12 defined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440680" cy="731520"/>
          </a:xfrm>
          <a:prstGeom prst="roundRect">
            <a:avLst>
              <a:gd name="adj" fmla="val 7500"/>
            </a:avLst>
          </a:prstGeom>
          <a:solidFill>
            <a:srgbClr val="EEF2FB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1773936"/>
            <a:ext cx="384048" cy="384048"/>
          </a:xfrm>
          <a:prstGeom prst="ellipse">
            <a:avLst/>
          </a:prstGeom>
          <a:solidFill>
            <a:srgbClr val="1F6F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931152" y="16002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Four-layer architecture + end-to-end pipeline mapped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2514600"/>
            <a:ext cx="5440680" cy="731520"/>
          </a:xfrm>
          <a:prstGeom prst="roundRect">
            <a:avLst>
              <a:gd name="adj" fmla="val 7500"/>
            </a:avLst>
          </a:prstGeom>
          <a:solidFill>
            <a:srgbClr val="EEF2FB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" y="2688336"/>
            <a:ext cx="384048" cy="384048"/>
          </a:xfrm>
          <a:prstGeom prst="ellipse">
            <a:avLst/>
          </a:prstGeom>
          <a:solidFill>
            <a:srgbClr val="1F6F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9808" y="2688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25146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+ AlgorithmResult + cross-worklet contracts defined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99632" y="2514600"/>
            <a:ext cx="5440680" cy="731520"/>
          </a:xfrm>
          <a:prstGeom prst="roundRect">
            <a:avLst>
              <a:gd name="adj" fmla="val 7500"/>
            </a:avLst>
          </a:prstGeom>
          <a:solidFill>
            <a:srgbClr val="EEF2FB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2688336"/>
            <a:ext cx="384048" cy="384048"/>
          </a:xfrm>
          <a:prstGeom prst="ellipse">
            <a:avLst/>
          </a:prstGeom>
          <a:solidFill>
            <a:srgbClr val="1F6F4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0" y="2688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931152" y="25146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algorithms designed with complexity + rationale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3429000"/>
            <a:ext cx="5440680" cy="731520"/>
          </a:xfrm>
          <a:prstGeom prst="roundRect">
            <a:avLst>
              <a:gd name="adj" fmla="val 7500"/>
            </a:avLst>
          </a:prstGeom>
          <a:solidFill>
            <a:srgbClr val="EEF2FB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9808" y="3602736"/>
            <a:ext cx="384048" cy="384048"/>
          </a:xfrm>
          <a:prstGeom prst="ellipse">
            <a:avLst/>
          </a:prstGeom>
          <a:solidFill>
            <a:srgbClr val="1F6F4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49808" y="3602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280160" y="34290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layout + class responsibilities specified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199632" y="3429000"/>
            <a:ext cx="5440680" cy="731520"/>
          </a:xfrm>
          <a:prstGeom prst="roundRect">
            <a:avLst>
              <a:gd name="adj" fmla="val 7500"/>
            </a:avLst>
          </a:prstGeom>
          <a:solidFill>
            <a:srgbClr val="EEF2FB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602736"/>
            <a:ext cx="384048" cy="384048"/>
          </a:xfrm>
          <a:prstGeom prst="ellipse">
            <a:avLst/>
          </a:prstGeom>
          <a:solidFill>
            <a:srgbClr val="1F6F4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00800" y="3602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931152" y="34290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4-level testing strategy established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48640" y="4480560"/>
            <a:ext cx="11091672" cy="960120"/>
          </a:xfrm>
          <a:prstGeom prst="roundRect">
            <a:avLst>
              <a:gd name="adj" fmla="val 5714"/>
            </a:avLst>
          </a:prstGeom>
          <a:solidFill>
            <a:srgbClr val="EEF2FB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4645152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E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ITEMS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77240" y="5029200"/>
            <a:ext cx="10634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1792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0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edge_weight(u,v) · component_map · traversal animation metadata — cross-worklet sign-off still pending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48640" y="5669280"/>
            <a:ext cx="11091672" cy="566928"/>
          </a:xfrm>
          <a:prstGeom prst="roundRect">
            <a:avLst>
              <a:gd name="adj" fmla="val 8065"/>
            </a:avLst>
          </a:prstGeom>
          <a:solidFill>
            <a:srgbClr val="1E276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77240" y="566928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Viva Discussion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2026-09-18T23:30:27Z</dcterms:created>
  <dcterms:modified xsi:type="dcterms:W3CDTF">2026-09-18T23:30:27Z</dcterms:modified>
</cp:coreProperties>
</file>