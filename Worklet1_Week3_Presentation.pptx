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820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1440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Explorer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Worklet 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37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Model, Traversal &amp; Connectivity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548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Review  ·  29 August 2026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960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Prepared by Worklet 1 Team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150876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498848" y="1728216"/>
            <a:ext cx="329184" cy="3291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489704" y="172821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01184" y="16367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01184" y="19110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612415022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150876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784848" y="1728216"/>
            <a:ext cx="329184" cy="329184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775704" y="172821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87184" y="16367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187184" y="19110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612415026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246888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498848" y="2688336"/>
            <a:ext cx="329184" cy="329184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4489704" y="26883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901184" y="2596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901184" y="28712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612415025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0" y="246888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784848" y="2688336"/>
            <a:ext cx="329184" cy="329184"/>
          </a:xfrm>
          <a:prstGeom prst="ellipse">
            <a:avLst/>
          </a:prstGeom>
          <a:solidFill>
            <a:srgbClr val="6C3FC1"/>
          </a:solidFill>
          <a:ln w="12700">
            <a:solidFill>
              <a:srgbClr val="6C3F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775704" y="26883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187184" y="2596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187184" y="28712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612415060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38912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Advisor: Dr. Soma Ghosh  ·  Co-ordinator: Abha Ma'am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389120" y="3840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COEP Technological University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137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Functionality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228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Worklet 1 actually does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124712"/>
            <a:ext cx="438912" cy="43891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39496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🗂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11430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8191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directed, undirected &amp; weighted graphs from scratch — no library used.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5848" y="96012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93008" y="1124712"/>
            <a:ext cx="438912" cy="43891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483864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11430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Representations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93008" y="158191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 (O(V+E) space) and Adjacency Matrix (O(V²)) — both behind one shared interface.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0216" y="96012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37376" y="1124712"/>
            <a:ext cx="438912" cy="43891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428232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58584" y="11430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158191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(queue-based) and DFS (stack/recursive), each returning a clean visit order.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92608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48640" y="3090672"/>
            <a:ext cx="438912" cy="438912"/>
          </a:xfrm>
          <a:prstGeom prst="ellipse">
            <a:avLst/>
          </a:prstGeom>
          <a:solidFill>
            <a:srgbClr val="6C3FC1"/>
          </a:solidFill>
          <a:ln w="12700">
            <a:solidFill>
              <a:srgbClr val="6C3F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539496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69848" y="31089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54787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components, Strongly Connected Components (Kosaraju), cycle detection.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55848" y="292608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493008" y="3090672"/>
            <a:ext cx="438912" cy="438912"/>
          </a:xfrm>
          <a:prstGeom prst="ellipse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3483864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014216" y="31089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Algorithms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354787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sort (Kahn's) for DAGs, and a bipartite test via 2-colouring.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0216" y="292608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437376" y="3090672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6428232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📂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958584" y="31089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37376" y="354787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Edge-list loader that reads a shared plain-text format agreed across all three worklets.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hand-built. No NetworkX, no igraph — just Python and first principles.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13232"/>
          </a:xfrm>
          <a:prstGeom prst="roundRect">
            <a:avLst>
              <a:gd name="adj" fmla="val 1538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347472" cy="34747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93776" y="1078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👷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969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Worklet 1 Team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261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· Pranav · Kunal · Vedant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100584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graph model, both representations, all traversal and connectivity algorithms, unit tests, and design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09928"/>
            <a:ext cx="8412480" cy="713232"/>
          </a:xfrm>
          <a:prstGeom prst="roundRect">
            <a:avLst>
              <a:gd name="adj" fmla="val 1538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02920" y="1892808"/>
            <a:ext cx="347472" cy="34747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93776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Worklet 2 Team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180136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Graph interface + edge weights to build Dijkstra, Bellman–Ford, and MST algorithms on top of our foundation.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05456"/>
            <a:ext cx="8412480" cy="713232"/>
          </a:xfrm>
          <a:prstGeom prst="roundRect">
            <a:avLst>
              <a:gd name="adj" fmla="val 1538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2920" y="2688336"/>
            <a:ext cx="347472" cy="34747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493776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Worklet 3 Team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852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259689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traversal results and component data for visualisation, animation, benchmarking, and structural metrics.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300984"/>
            <a:ext cx="8412480" cy="713232"/>
          </a:xfrm>
          <a:prstGeom prst="roundRect">
            <a:avLst>
              <a:gd name="adj" fmla="val 1538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02920" y="3483864"/>
            <a:ext cx="347472" cy="347472"/>
          </a:xfrm>
          <a:prstGeom prst="ellipse">
            <a:avLst/>
          </a:prstGeom>
          <a:solidFill>
            <a:srgbClr val="6C3FC1"/>
          </a:solidFill>
          <a:ln w="12700">
            <a:solidFill>
              <a:srgbClr val="6C3F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493776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🎓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3355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/ Evaluator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3648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C3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Soma Ghosh  ·  Abha Ma'am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154680" y="339242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correctness, design understanding, and the foundations-first approach — every decision must be explainable.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8412480" cy="713232"/>
          </a:xfrm>
          <a:prstGeom prst="roundRect">
            <a:avLst>
              <a:gd name="adj" fmla="val 1538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02920" y="4279392"/>
            <a:ext cx="347472" cy="347472"/>
          </a:xfrm>
          <a:prstGeom prst="ellipse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493776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🧑‍💻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4151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Student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44439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member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154680" y="418795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able to walk through any module — code, design choices, trade-offs — confidently at the viva.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Worklet Responsibilities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932688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7472" y="932688"/>
            <a:ext cx="2011680" cy="658368"/>
          </a:xfrm>
          <a:prstGeom prst="roundRect">
            <a:avLst>
              <a:gd name="adj" fmla="val 16667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47472" y="1261872"/>
            <a:ext cx="2011680" cy="32918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57200" y="10241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Yash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9844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612415022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916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Ownership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947672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graph/base.py  ·  Graph ABC, Vertex, Edge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graph/adj_list.py  ·  Adjacency List impl.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representation tests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337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helps with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59359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matrix impl., assists on SCC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96312" y="932688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496312" y="932688"/>
            <a:ext cx="2011680" cy="658368"/>
          </a:xfrm>
          <a:prstGeom prst="roundRect">
            <a:avLst>
              <a:gd name="adj" fmla="val 16667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496312" y="1261872"/>
            <a:ext cx="2011680" cy="32918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2606040" y="10241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Pranav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129844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612415026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16916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Ownership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06040" y="1947672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graph/adj_matrix.py  ·  Matrix impl.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io/edge_list_loader.py  ·  File loader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606040" y="3337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helps with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606040" y="359359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list impl., assists on BFS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45152" y="932688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45152" y="932688"/>
            <a:ext cx="2011680" cy="658368"/>
          </a:xfrm>
          <a:prstGeom prst="roundRect">
            <a:avLst>
              <a:gd name="adj" fmla="val 16667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645152" y="1261872"/>
            <a:ext cx="2011680" cy="32918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754880" y="10241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Kunal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129844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612415025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16916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Ownership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1947672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algorithms/bfs.py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algorithms/dfs.py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algorithms/connected_components.py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754880" y="3337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helps with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754880" y="359359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SCC, assists on bipartite test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93992" y="932688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793992" y="932688"/>
            <a:ext cx="2011680" cy="658368"/>
          </a:xfrm>
          <a:prstGeom prst="roundRect">
            <a:avLst>
              <a:gd name="adj" fmla="val 16667"/>
            </a:avLst>
          </a:prstGeom>
          <a:solidFill>
            <a:srgbClr val="6C3FC1"/>
          </a:solidFill>
          <a:ln w="12700">
            <a:solidFill>
              <a:srgbClr val="6C3F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793992" y="1261872"/>
            <a:ext cx="2011680" cy="329184"/>
          </a:xfrm>
          <a:prstGeom prst="rect">
            <a:avLst/>
          </a:prstGeom>
          <a:solidFill>
            <a:srgbClr val="6C3FC1"/>
          </a:solidFill>
          <a:ln w="12700">
            <a:solidFill>
              <a:srgbClr val="6C3F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903720" y="10241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Vedant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129844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612415060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903720" y="16916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C3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Ownership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903720" y="1947672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algorithms/scc.py  ·  Kosaraju's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algorithms/cycle_detection.py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algorithms/topological_sort.py &amp; bipartite.py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903720" y="3337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C3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helps with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903720" y="359359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BFS/DFS, assists on tests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member is expected to explain any module at the viva. Code review is required before any merge.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HLD &amp;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5029200" cy="804672"/>
          </a:xfrm>
          <a:prstGeom prst="roundRect">
            <a:avLst>
              <a:gd name="adj" fmla="val 11364"/>
            </a:avLst>
          </a:prstGeom>
          <a:solidFill>
            <a:srgbClr val="6C3FC1"/>
          </a:solidFill>
          <a:ln w="12700">
            <a:solidFill>
              <a:srgbClr val="6C3F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94360" y="9418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/ I-O Layer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2801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EdgeListLoader  ·  test runner  ·  entry point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7190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3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865376"/>
            <a:ext cx="4892040" cy="804672"/>
          </a:xfrm>
          <a:prstGeom prst="roundRect">
            <a:avLst>
              <a:gd name="adj" fmla="val 11364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67512" y="191109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Layer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24942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· DFS · ConnectedComponents · SCC · CycleDetection · TopologicalSort · BipartiteTest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6883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" y="2834640"/>
            <a:ext cx="4754880" cy="804672"/>
          </a:xfrm>
          <a:prstGeom prst="roundRect">
            <a:avLst>
              <a:gd name="adj" fmla="val 11364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40664" y="2880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Representation Layer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" y="32186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AdjacencyListGraph  ·  AdjacencyMatrixGraph  —  both implement Graph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06424" y="3657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" y="3803904"/>
            <a:ext cx="4617720" cy="804672"/>
          </a:xfrm>
          <a:prstGeom prst="roundRect">
            <a:avLst>
              <a:gd name="adj" fmla="val 11364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13816" y="384962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Model Layer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" y="418795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 ·  Edge  ·  Graph (abstract base class)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914400"/>
            <a:ext cx="3017520" cy="4005072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0" y="10241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Principle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14630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Algorithms never touch representation internals — only graph.neighbours().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22860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Swap adjacency list ↔ matrix with zero algorithm changes.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31089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Each layer can be unit-tested in isolation.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39319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Modules: graph/ · algorithms/ · io/ · tests/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4005072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&amp; Algorithm Contracts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add_vertex(v)  ·  remove_vertex(v)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19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add_edge(u, v, weight=None)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20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remove_edge(u, v)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3225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has_edge(u, v) → bool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624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neighbours(v) → 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all_edges() → list[Edge]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227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vertex_count() / edge_count()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5295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edge_weight(u, v) → float | None  [proposed]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8862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AlgorithmResult carries: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14223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name  ·  primary_output  ·  metadata  ·  success flag  ·  error_message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91440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09160" y="1069848"/>
            <a:ext cx="329184" cy="329184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4700016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138928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Worklet 1 → Worklet 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Graph interface — agreed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1755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all_edges() + Edge.weight — agreed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2029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is_directed property — agreed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2304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edge_weight(u,v) method — pending W2 sign-off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944368"/>
            <a:ext cx="4206240" cy="1975104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09160" y="3090672"/>
            <a:ext cx="329184" cy="329184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700016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138928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Worklet 1 → Worklet 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349300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graph.vertices + all_edges() — agreed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709160" y="375818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AlgorithmResult.primary_output — agreed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709160" y="402336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metadata["colouring"] (bipartite) — agreed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709160" y="428853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metadata["component_map"] — pending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709160" y="455371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Step-by-step animation data — pending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Edge-List File Format (shared across all 3 worklets):  DIRECTED / UNDIRECTED  →  WEIGHTED / UNWEIGHTED  →  "u  v  [weight]" per line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694944"/>
          </a:xfrm>
          <a:prstGeom prst="roundRect">
            <a:avLst>
              <a:gd name="adj" fmla="val 15789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75488" y="1115568"/>
            <a:ext cx="640080" cy="274320"/>
          </a:xfrm>
          <a:prstGeom prst="roundRect">
            <a:avLst>
              <a:gd name="adj" fmla="val 26667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66344" y="11155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00584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 Python 3.10+, zero prohibited external libraries — everything hand-built.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73168" y="914400"/>
            <a:ext cx="4114800" cy="694944"/>
          </a:xfrm>
          <a:prstGeom prst="roundRect">
            <a:avLst>
              <a:gd name="adj" fmla="val 15789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882896" y="1115568"/>
            <a:ext cx="640080" cy="274320"/>
          </a:xfrm>
          <a:prstGeom prst="roundRect">
            <a:avLst>
              <a:gd name="adj" fmla="val 26667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873752" y="11155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14416" y="100584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Separation:  Graph representation is completely decoupled from algorithm logic.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709928"/>
            <a:ext cx="4114800" cy="694944"/>
          </a:xfrm>
          <a:prstGeom prst="roundRect">
            <a:avLst>
              <a:gd name="adj" fmla="val 15789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488" y="1911096"/>
            <a:ext cx="640080" cy="274320"/>
          </a:xfrm>
          <a:prstGeom prst="roundRect">
            <a:avLst>
              <a:gd name="adj" fmla="val 26667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66344" y="191109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180136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Modularity:  Each algorithm is a self-contained, replaceable module (strategy pattern).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73168" y="1709928"/>
            <a:ext cx="4114800" cy="694944"/>
          </a:xfrm>
          <a:prstGeom prst="roundRect">
            <a:avLst>
              <a:gd name="adj" fmla="val 15789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882896" y="1911096"/>
            <a:ext cx="640080" cy="274320"/>
          </a:xfrm>
          <a:prstGeom prst="roundRect">
            <a:avLst>
              <a:gd name="adj" fmla="val 26667"/>
            </a:avLst>
          </a:prstGeom>
          <a:solidFill>
            <a:srgbClr val="6C3FC1"/>
          </a:solidFill>
          <a:ln w="12700">
            <a:solidFill>
              <a:srgbClr val="6C3F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4873752" y="191109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5614416" y="180136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Organisation:  Clearly named modules: graph/ · algorithms/ · io/.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505456"/>
            <a:ext cx="4114800" cy="694944"/>
          </a:xfrm>
          <a:prstGeom prst="roundRect">
            <a:avLst>
              <a:gd name="adj" fmla="val 15789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5488" y="2706624"/>
            <a:ext cx="640080" cy="274320"/>
          </a:xfrm>
          <a:prstGeom prst="roundRect">
            <a:avLst>
              <a:gd name="adj" fmla="val 26667"/>
            </a:avLst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466344" y="27066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NFR-07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259689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Constraint:  BFS must use a queue (deque), never a stack or recursion.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73168" y="2505456"/>
            <a:ext cx="4114800" cy="694944"/>
          </a:xfrm>
          <a:prstGeom prst="roundRect">
            <a:avLst>
              <a:gd name="adj" fmla="val 15789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882896" y="2706624"/>
            <a:ext cx="640080" cy="274320"/>
          </a:xfrm>
          <a:prstGeom prst="roundRect">
            <a:avLst>
              <a:gd name="adj" fmla="val 2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873752" y="27066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NFR-08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5614416" y="259689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Constraint:  DFS uses a stack — explicit or via recursion.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300984"/>
            <a:ext cx="4114800" cy="694944"/>
          </a:xfrm>
          <a:prstGeom prst="roundRect">
            <a:avLst>
              <a:gd name="adj" fmla="val 15789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5488" y="3502152"/>
            <a:ext cx="640080" cy="274320"/>
          </a:xfrm>
          <a:prstGeom prst="roundRect">
            <a:avLst>
              <a:gd name="adj" fmla="val 26667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466344" y="35021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NFR-12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1207008" y="339242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 O(V+E) for list-based traversal, O(V²) for matrix — must match theory.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73168" y="3300984"/>
            <a:ext cx="4114800" cy="694944"/>
          </a:xfrm>
          <a:prstGeom prst="roundRect">
            <a:avLst>
              <a:gd name="adj" fmla="val 15789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882896" y="3502152"/>
            <a:ext cx="640080" cy="274320"/>
          </a:xfrm>
          <a:prstGeom prst="roundRect">
            <a:avLst>
              <a:gd name="adj" fmla="val 26667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4873752" y="35021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NFR-06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5614416" y="339242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 Every algorithm and graph operation has at least one unit test (pytest).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4114800" cy="694944"/>
          </a:xfrm>
          <a:prstGeom prst="roundRect">
            <a:avLst>
              <a:gd name="adj" fmla="val 15789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5488" y="4297680"/>
            <a:ext cx="640080" cy="274320"/>
          </a:xfrm>
          <a:prstGeom prst="roundRect">
            <a:avLst>
              <a:gd name="adj" fmla="val 26667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466344" y="42976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NFR-09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1207008" y="4187952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Format:  Edge-list format is identical across all three worklets — no exceptions.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73168" y="4096512"/>
            <a:ext cx="4114800" cy="694944"/>
          </a:xfrm>
          <a:prstGeom prst="roundRect">
            <a:avLst>
              <a:gd name="adj" fmla="val 15789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882896" y="4297680"/>
            <a:ext cx="640080" cy="274320"/>
          </a:xfrm>
          <a:prstGeom prst="roundRect">
            <a:avLst>
              <a:gd name="adj" fmla="val 26667"/>
            </a:avLst>
          </a:prstGeom>
          <a:solidFill>
            <a:srgbClr val="6C3FC1"/>
          </a:solidFill>
          <a:ln w="12700">
            <a:solidFill>
              <a:srgbClr val="6C3F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4873752" y="42976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NFR-11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5614416" y="4187952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Log:  All design decisions with trade-offs recorded in a design decision log.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NFR-05: All public functions and classes must have docstrings.  ·  NFR-10: Small, meaningful commits in one shared team repository.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68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closing before the next checkpoint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253580"/>
          </a:solidFill>
          <a:ln w="12700">
            <a:solidFill>
              <a:srgbClr val="3D5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329184" cy="329184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85216" y="1453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1380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Finalise Cross-Worklet Interfaces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165506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sign-off from W2 on edge_weight(u,v) and confirm W3 needs for component_map + animation data.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39112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253580"/>
          </a:solidFill>
          <a:ln w="12700">
            <a:solidFill>
              <a:srgbClr val="3D5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94360" y="2176272"/>
            <a:ext cx="329184" cy="329184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85216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0939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Remaining Implementations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3682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AdjacencyMatrixGraph and EdgeListLoader; implement BFS, DFS, and cycle detection against the agreed Graph interface.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52344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253580"/>
          </a:solidFill>
          <a:ln w="12700">
            <a:solidFill>
              <a:srgbClr val="3D5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94360" y="2889504"/>
            <a:ext cx="329184" cy="329184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585216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2807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Representation Tests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308152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parameterised tests against both AdjacencyListGraph and AdjacencyMatrixGraph to confirm representation-independence holds.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65576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253580"/>
          </a:solidFill>
          <a:ln w="12700">
            <a:solidFill>
              <a:srgbClr val="3D5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94360" y="3602736"/>
            <a:ext cx="329184" cy="329184"/>
          </a:xfrm>
          <a:prstGeom prst="ellipse">
            <a:avLst/>
          </a:prstGeom>
          <a:solidFill>
            <a:srgbClr val="6C3FC1"/>
          </a:solidFill>
          <a:ln w="12700">
            <a:solidFill>
              <a:srgbClr val="6C3F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85216" y="3593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Recursion-Limit Risk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379476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iterative DFS fallback for deep graphs; decide whether to ship it by default or keep it as a documented mitigation.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78808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253580"/>
          </a:solidFill>
          <a:ln w="12700">
            <a:solidFill>
              <a:srgbClr val="3D5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94360" y="4315968"/>
            <a:ext cx="329184" cy="32918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585216" y="4306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4233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 Interface Stability for W2 &amp; W3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450799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breaking changes to Graph ABC and AlgorithmResult once downstream worklets start consuming them.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1172</Words>
  <Application>Microsoft Office PowerPoint</Application>
  <PresentationFormat>On-screen Show (16:9)</PresentationFormat>
  <Paragraphs>188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Worklet 1 – Graph Algorithms Explorer</dc:title>
  <dc:subject>PptxGenJS Presentation</dc:subject>
  <dc:creator>PptxGenJS</dc:creator>
  <cp:lastModifiedBy>Vedant Gade</cp:lastModifiedBy>
  <cp:revision>2</cp:revision>
  <dcterms:created xsi:type="dcterms:W3CDTF">2026-08-28T20:42:10Z</dcterms:created>
  <dcterms:modified xsi:type="dcterms:W3CDTF">2026-08-29T04:22:58Z</dcterms:modified>
</cp:coreProperties>
</file>